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Comfortaa Medium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Medium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omfortaa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7b7e8ba8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7b7e8ba8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7b7e8ba8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7b7e8ba8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67b7e8ba8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67b7e8ba8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7b7e8ba8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7b7e8ba8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7df847e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7df847e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7df847eb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7df847e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7df847eb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7df847eb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7df847e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67df847e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7df847eb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7df847eb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7df847eb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67df847eb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7df847eb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7df847eb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7df847eb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7df847eb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7df847eb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67df847eb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C9DAF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571750"/>
            <a:ext cx="8520600" cy="15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INFORME DE VENTAS, COSTOS Y </a:t>
            </a: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RENTABILIDAD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55" name="Google Shape;55;p13" title="63c9fc5a-1b43-484a-81dc-f82f59762e62 (1).png"/>
          <p:cNvPicPr preferRelativeResize="0"/>
          <p:nvPr/>
        </p:nvPicPr>
        <p:blipFill rotWithShape="1">
          <a:blip r:embed="rId3">
            <a:alphaModFix/>
          </a:blip>
          <a:srcRect b="40028" l="0" r="0" t="36872"/>
          <a:stretch/>
        </p:blipFill>
        <p:spPr>
          <a:xfrm>
            <a:off x="1249536" y="568200"/>
            <a:ext cx="6644925" cy="15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4592800" y="2697175"/>
            <a:ext cx="708300" cy="708300"/>
          </a:xfrm>
          <a:prstGeom prst="ellipse">
            <a:avLst/>
          </a:prstGeom>
          <a:solidFill>
            <a:srgbClr val="07376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4294967295" type="ctrTitle"/>
          </p:nvPr>
        </p:nvSpPr>
        <p:spPr>
          <a:xfrm>
            <a:off x="215775" y="157225"/>
            <a:ext cx="85206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PARA DESARROLLAR EL DASHBOARD SE TUVO EN CUENTA…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2" name="Google Shape;62;p14"/>
          <p:cNvSpPr txBox="1"/>
          <p:nvPr>
            <p:ph idx="4294967295" type="ctrTitle"/>
          </p:nvPr>
        </p:nvSpPr>
        <p:spPr>
          <a:xfrm>
            <a:off x="1108200" y="1469600"/>
            <a:ext cx="21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LOGO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3" name="Google Shape;63;p14"/>
          <p:cNvSpPr txBox="1"/>
          <p:nvPr>
            <p:ph idx="4294967295" type="ctrTitle"/>
          </p:nvPr>
        </p:nvSpPr>
        <p:spPr>
          <a:xfrm>
            <a:off x="1108200" y="2619625"/>
            <a:ext cx="21603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PALETA DE COLORES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503575" y="2697175"/>
            <a:ext cx="708300" cy="708300"/>
          </a:xfrm>
          <a:prstGeom prst="ellipse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6422400" y="2697175"/>
            <a:ext cx="708300" cy="708300"/>
          </a:xfrm>
          <a:prstGeom prst="ellipse">
            <a:avLst/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7341225" y="2697175"/>
            <a:ext cx="708300" cy="708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4" title="63c9fc5a-1b43-484a-81dc-f82f59762e62 (1).png"/>
          <p:cNvPicPr preferRelativeResize="0"/>
          <p:nvPr/>
        </p:nvPicPr>
        <p:blipFill rotWithShape="1">
          <a:blip r:embed="rId3">
            <a:alphaModFix/>
          </a:blip>
          <a:srcRect b="40028" l="0" r="0" t="36872"/>
          <a:stretch/>
        </p:blipFill>
        <p:spPr>
          <a:xfrm>
            <a:off x="4058730" y="1295025"/>
            <a:ext cx="3990799" cy="92184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>
            <p:ph idx="4294967295" type="ctrTitle"/>
          </p:nvPr>
        </p:nvSpPr>
        <p:spPr>
          <a:xfrm>
            <a:off x="1108200" y="3878950"/>
            <a:ext cx="24045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QUEREMOS RESPONDER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69" name="Google Shape;69;p14"/>
          <p:cNvSpPr txBox="1"/>
          <p:nvPr>
            <p:ph idx="4294967295" type="ctrTitle"/>
          </p:nvPr>
        </p:nvSpPr>
        <p:spPr>
          <a:xfrm>
            <a:off x="4572000" y="3817350"/>
            <a:ext cx="4209600" cy="8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¿LA EMPRESA ES RENTABLE?</a:t>
            </a:r>
            <a:br>
              <a:rPr lang="es" sz="18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</a:br>
            <a:r>
              <a:rPr lang="es" sz="18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¿CUÁNTO VENDEMOS?</a:t>
            </a:r>
            <a:endParaRPr sz="180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¿CUÁNTO GASTAMOS?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4294967295" type="ctrTitle"/>
          </p:nvPr>
        </p:nvSpPr>
        <p:spPr>
          <a:xfrm>
            <a:off x="215775" y="157225"/>
            <a:ext cx="85206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PARA ELLO…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75" name="Google Shape;75;p15"/>
          <p:cNvSpPr txBox="1"/>
          <p:nvPr>
            <p:ph idx="4294967295" type="ctrTitle"/>
          </p:nvPr>
        </p:nvSpPr>
        <p:spPr>
          <a:xfrm>
            <a:off x="215775" y="1210250"/>
            <a:ext cx="4005300" cy="38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 </a:t>
            </a: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DESARROLLÓ</a:t>
            </a: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 UN DASHBOARD CENTRAL QUE RESPONDA NUESTRAS PREGUNTAS DE MANERA RESUMIDA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975" y="1431050"/>
            <a:ext cx="4613675" cy="24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4294967295" type="ctrTitle"/>
          </p:nvPr>
        </p:nvSpPr>
        <p:spPr>
          <a:xfrm>
            <a:off x="254200" y="898375"/>
            <a:ext cx="4005300" cy="383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ADEMÁS DESDE ESTE DASHBOARD PODRÁ INGRESAR AL DASHBOARD ESPECÍFICO QUE ANALICE LA MÉTRICA QUE LE INTERESE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0975" y="1431050"/>
            <a:ext cx="4613675" cy="2424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6744850" y="1777975"/>
            <a:ext cx="2258100" cy="2078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4294967295" type="ctrTitle"/>
          </p:nvPr>
        </p:nvSpPr>
        <p:spPr>
          <a:xfrm>
            <a:off x="691200" y="1490550"/>
            <a:ext cx="7761600" cy="21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EN TODOS LOS DASHBOARDS SE HA SEGUIDO EL PATRÓN Z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813" y="895425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idx="4294967295" type="ctrTitle"/>
          </p:nvPr>
        </p:nvSpPr>
        <p:spPr>
          <a:xfrm>
            <a:off x="215775" y="157225"/>
            <a:ext cx="8520600" cy="9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120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SE PRETENDE QUE SE VISUALICE DE LA SIGUIENTE MANERA</a:t>
            </a:r>
            <a:endParaRPr sz="2120"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cxnSp>
        <p:nvCxnSpPr>
          <p:cNvPr id="95" name="Google Shape;95;p18"/>
          <p:cNvCxnSpPr/>
          <p:nvPr/>
        </p:nvCxnSpPr>
        <p:spPr>
          <a:xfrm>
            <a:off x="1882450" y="1931850"/>
            <a:ext cx="5034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8"/>
          <p:cNvCxnSpPr/>
          <p:nvPr/>
        </p:nvCxnSpPr>
        <p:spPr>
          <a:xfrm flipH="1" rot="10800000">
            <a:off x="1927300" y="1931975"/>
            <a:ext cx="4983300" cy="131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8"/>
          <p:cNvCxnSpPr/>
          <p:nvPr/>
        </p:nvCxnSpPr>
        <p:spPr>
          <a:xfrm>
            <a:off x="1958775" y="3251375"/>
            <a:ext cx="5034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8"/>
          <p:cNvCxnSpPr/>
          <p:nvPr/>
        </p:nvCxnSpPr>
        <p:spPr>
          <a:xfrm flipH="1" rot="10800000">
            <a:off x="2010075" y="3251500"/>
            <a:ext cx="4983300" cy="131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" name="Google Shape;99;p18"/>
          <p:cNvCxnSpPr/>
          <p:nvPr/>
        </p:nvCxnSpPr>
        <p:spPr>
          <a:xfrm>
            <a:off x="2010075" y="4570900"/>
            <a:ext cx="5034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4294967295" type="ctrTitle"/>
          </p:nvPr>
        </p:nvSpPr>
        <p:spPr>
          <a:xfrm>
            <a:off x="691200" y="1490550"/>
            <a:ext cx="7761600" cy="216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Comfortaa Medium"/>
                <a:ea typeface="Comfortaa Medium"/>
                <a:cs typeface="Comfortaa Medium"/>
                <a:sym typeface="Comfortaa Medium"/>
              </a:rPr>
              <a:t>ADEMÁS, LOS 3 DASHBOARDS SE ORGANIZAN DE LA MISMA MANERA</a:t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6786250" y="525850"/>
            <a:ext cx="2244600" cy="40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latin typeface="Comfortaa Medium"/>
                <a:ea typeface="Comfortaa Medium"/>
                <a:cs typeface="Comfortaa Medium"/>
                <a:sym typeface="Comfortaa Medium"/>
              </a:rPr>
              <a:t>EN EL EXTREMOS SUPERIOR IZQUIERDO TENEMOS UNA TARJETA QUE RESUME LA MÉTRICA DEL DASHBOARD, Y QUÉ RESPONDE UNA DE LAS  PREGUNTAS PLANTEADAS AL INICIO. </a:t>
            </a:r>
            <a:r>
              <a:rPr lang="es" sz="1600">
                <a:latin typeface="Comfortaa Medium"/>
                <a:ea typeface="Comfortaa Medium"/>
                <a:cs typeface="Comfortaa Medium"/>
                <a:sym typeface="Comfortaa Medium"/>
              </a:rPr>
              <a:t>EN ESTE CASO LA EMPRESA SÍ ES RENTABLE.</a:t>
            </a:r>
            <a:endParaRPr sz="16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3" y="525850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114500" y="932625"/>
            <a:ext cx="1223400" cy="1178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3" y="525850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/>
          <p:nvPr/>
        </p:nvSpPr>
        <p:spPr>
          <a:xfrm>
            <a:off x="1268300" y="858750"/>
            <a:ext cx="2164200" cy="1323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6752875" y="525850"/>
            <a:ext cx="22446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latin typeface="Comfortaa Medium"/>
                <a:ea typeface="Comfortaa Medium"/>
                <a:cs typeface="Comfortaa Medium"/>
                <a:sym typeface="Comfortaa Medium"/>
              </a:rPr>
              <a:t>LUEGO SE PRESENTA LA EVALUACIÓN DE LA MÉTRICA EN EL PERÍODO 2013/2014.</a:t>
            </a:r>
            <a:endParaRPr sz="23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3" y="525850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/>
          <p:nvPr/>
        </p:nvSpPr>
        <p:spPr>
          <a:xfrm>
            <a:off x="3279600" y="1035100"/>
            <a:ext cx="3473400" cy="11274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6752875" y="525850"/>
            <a:ext cx="22446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latin typeface="Comfortaa Medium"/>
                <a:ea typeface="Comfortaa Medium"/>
                <a:cs typeface="Comfortaa Medium"/>
                <a:sym typeface="Comfortaa Medium"/>
              </a:rPr>
              <a:t>SE ANALIZA TAMBIÉN </a:t>
            </a:r>
            <a:r>
              <a:rPr lang="es" sz="1900">
                <a:latin typeface="Comfortaa Medium"/>
                <a:ea typeface="Comfortaa Medium"/>
                <a:cs typeface="Comfortaa Medium"/>
                <a:sym typeface="Comfortaa Medium"/>
              </a:rPr>
              <a:t>CÓMO</a:t>
            </a:r>
            <a:r>
              <a:rPr lang="es" sz="1900">
                <a:latin typeface="Comfortaa Medium"/>
                <a:ea typeface="Comfortaa Medium"/>
                <a:cs typeface="Comfortaa Medium"/>
                <a:sym typeface="Comfortaa Medium"/>
              </a:rPr>
              <a:t> SE  COMPORTA LA MÉTRICA POR CATEGORÍA Y SUBCATEGORÍA DE PRODUCTO.</a:t>
            </a:r>
            <a:endParaRPr sz="19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3" y="525850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/>
          <p:nvPr/>
        </p:nvSpPr>
        <p:spPr>
          <a:xfrm>
            <a:off x="44900" y="1848575"/>
            <a:ext cx="6750600" cy="15951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6752875" y="525850"/>
            <a:ext cx="22446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latin typeface="Comfortaa Medium"/>
                <a:ea typeface="Comfortaa Medium"/>
                <a:cs typeface="Comfortaa Medium"/>
                <a:sym typeface="Comfortaa Medium"/>
              </a:rPr>
              <a:t>LA SEGUNDA FILA ESTÁ DEDICADA AL ANÁLISIS DE LA MÉTRICA EN LAS DISTINTAS REGIONES, MERCADOS Y PAÍSES DEL MUNDO.</a:t>
            </a:r>
            <a:endParaRPr sz="19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3" y="525850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4"/>
          <p:cNvSpPr/>
          <p:nvPr/>
        </p:nvSpPr>
        <p:spPr>
          <a:xfrm>
            <a:off x="74400" y="3296175"/>
            <a:ext cx="6750600" cy="13965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6752875" y="525850"/>
            <a:ext cx="22446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latin typeface="Comfortaa Medium"/>
                <a:ea typeface="Comfortaa Medium"/>
                <a:cs typeface="Comfortaa Medium"/>
                <a:sym typeface="Comfortaa Medium"/>
              </a:rPr>
              <a:t>LA ÚLTIMA FILA ANALIZA </a:t>
            </a:r>
            <a:r>
              <a:rPr lang="es" sz="1800">
                <a:latin typeface="Comfortaa Medium"/>
                <a:ea typeface="Comfortaa Medium"/>
                <a:cs typeface="Comfortaa Medium"/>
                <a:sym typeface="Comfortaa Medium"/>
              </a:rPr>
              <a:t>CÓMO</a:t>
            </a:r>
            <a:r>
              <a:rPr lang="es" sz="1800">
                <a:latin typeface="Comfortaa Medium"/>
                <a:ea typeface="Comfortaa Medium"/>
                <a:cs typeface="Comfortaa Medium"/>
                <a:sym typeface="Comfortaa Medium"/>
              </a:rPr>
              <a:t> SE COMPORTA LA MÉTRICA SEGÚN, EL CLIENTE, CÓMO SE LE ENVÍA EL PRODUCTO, Y QUÉ PRIORIDAD SE LE DA AL PEDIDO/ORDEN.</a:t>
            </a:r>
            <a:endParaRPr sz="18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3" y="525850"/>
            <a:ext cx="6606374" cy="409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5"/>
          <p:cNvSpPr/>
          <p:nvPr/>
        </p:nvSpPr>
        <p:spPr>
          <a:xfrm>
            <a:off x="1400300" y="2002325"/>
            <a:ext cx="808800" cy="435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6752875" y="525850"/>
            <a:ext cx="22446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latin typeface="Comfortaa Medium"/>
                <a:ea typeface="Comfortaa Medium"/>
                <a:cs typeface="Comfortaa Medium"/>
                <a:sym typeface="Comfortaa Medium"/>
              </a:rPr>
              <a:t>ADEMÁS, TODOS LOS GRÁFICOS CUENTAN CON SEGMENTADORES.</a:t>
            </a:r>
            <a:endParaRPr sz="250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1400300" y="3230825"/>
            <a:ext cx="808800" cy="435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4081475" y="1032475"/>
            <a:ext cx="808800" cy="4356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6" title="63c9fc5a-1b43-484a-81dc-f82f59762e62 (1).png"/>
          <p:cNvPicPr preferRelativeResize="0"/>
          <p:nvPr/>
        </p:nvPicPr>
        <p:blipFill rotWithShape="1">
          <a:blip r:embed="rId3">
            <a:alphaModFix/>
          </a:blip>
          <a:srcRect b="40028" l="0" r="0" t="36872"/>
          <a:stretch/>
        </p:blipFill>
        <p:spPr>
          <a:xfrm>
            <a:off x="1249549" y="1804287"/>
            <a:ext cx="6644925" cy="15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